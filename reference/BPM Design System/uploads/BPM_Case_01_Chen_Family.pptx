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48640" cy="36576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繼承後出售雙時鐘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Inheritance Two-Clock Framework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36576"/>
          </a:xfrm>
          <a:prstGeom prst="rect">
            <a:avLst/>
          </a:prstGeom>
          <a:solidFill>
            <a:srgbClr val="3A4A66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陳家族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三代 · 五人 · 四筆不動產 · NT$9,800 萬遺產稅倒數 · 4 個月決定 NT$4,300 萬稅後現金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8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reading two clocks instead of one preserved a 信義 trophy asset, paid the estate tax on time, and turned a 三方分產 conflict into a structured settlement.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320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2026 · Confidential and Proprietary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5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不動產資產結構與資本策略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C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3832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4173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繼承時刻，是一個家族最容易做錯決策的 6–12 個月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548640" cy="36576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6060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多資產家族在繼承時刻面對的是三件事的疊加 —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時間壓力（遺產稅倒數）、決策衝突（家族成員不同訴求）、與資訊不對齊（顧問各自獨立）。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1 拆解：為什麼這個時刻幾乎沒有家族能單獨做出最好的決定。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繼承時刻的五個系統性盲點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systemic blind spots that almost every family steps into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697480" cy="150876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150876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20756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資產取得年代落入不同稅制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4414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1995 取得的信義商辦適用舊制；2020 取得的高雄住宅適用房地合一。家族通常把所有資產用同一個稅務直覺看，忽略制度分界。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697480" cy="150876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691640"/>
            <a:ext cx="54864" cy="150876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783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0712" y="20756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繼承取得成本不是「市價」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4414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取得成本是繼承時的房屋評定現值 + 公告土地現值×CPI。市價與評定/公告現值的落差，會讓課稅所得意外放大。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97480" cy="150876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691640"/>
            <a:ext cx="54864" cy="150876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783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9632" y="20756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顧問各自獨立，沒人對齊 portfolio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24414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會計師看單筆稅、銀行看擔保品、律師看分產。三人各自合理的建議，加總起來常常是壞決策。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2697480" cy="150876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91840"/>
            <a:ext cx="54864" cy="150876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383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" y="3675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時間壓力逼著在不利窗口出手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40416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遺產稅 6 個月內申報、2 個月內繳清。短期現金缺口往往逼家族處分稅率最高、價值最大的資產。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291840"/>
            <a:ext cx="2697480" cy="150876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3291840"/>
            <a:ext cx="54864" cy="150876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383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10712" y="3675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「公平分產」被當成「平均分資產」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40416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把整棟商辦切成現金分給三個兄弟姊妹，幾乎都是稅後現金最低的選項。公平可以透過受益權、信託與現金組合達成。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291840"/>
            <a:ext cx="2697480" cy="150876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觀察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9632" y="3703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五個盲點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全部疊在一起時，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家族原案 vs BPM 推薦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稅後現金差距 ≥ 25%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兩個時鐘相互衝突，家族通常輸給時鐘 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clocks pull in opposite directions — and liquidity usually wins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時鐘 A · 稅務持有期間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 holding-period clock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023360" cy="224028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≤ 2 年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2798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2–5 年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145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5–10 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5295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10 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3703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233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自住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10% (&gt;400萬部分) · 6 年限用一次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98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⚑ 105/12/31 前由被繼承人取得 → 不進房地合一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1691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時鐘 B · 家族現金需求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1965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liquidity clock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240280"/>
            <a:ext cx="4023360" cy="224028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T+6M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2395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遺產稅申報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5786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F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可延 2 個月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761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T+8M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27797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遺產稅繳清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29626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F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可分期 ≤ 3 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31455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0–24M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0" y="3163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兄弟姊妹分產 / 信託設計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5295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業務、置產、教育、再投資現金需求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4498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⚑ 時鐘 B 的壓力，常逼著家族在時鐘 A 不利的位置出手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三位顧問各自合理，但加總起來常是壞決策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good advisors with three partial views rarely add up to one good decision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06040" cy="38404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901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單筆稅務、申報義務、罰則風險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834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資產之間的稅率時序套利、橋接融資的稅後價值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2606040" cy="2743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典型建議 · 建議賣最容易課稅清楚的那一筆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691640"/>
            <a:ext cx="2606040" cy="38404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10712" y="1901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0712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10712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擔保品估值、現金流、LTV、DSCR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0712" y="2834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10712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擔保結構對未來處分與信託的限制、稅務時序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3749040"/>
            <a:ext cx="2606040" cy="2743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典型建議 · 建議用最大的不動產再融資補現金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691640"/>
            <a:ext cx="2606040" cy="38404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律師 / 地政士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9632" y="1901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Lawyer / 地政士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9632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繼承登記、信託契約、分產糾紛防範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2834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9632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稅務情境差、融資結構選項、portfolio 取捨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749040"/>
            <a:ext cx="2606040" cy="2743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典型建議 · 建議信託 + 平均分配以求公平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不取代上述任何一位，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而是把他們的 input 整合成 portfolio-level 的決策包，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讓家族在同一張桌上做出可解釋、可追蹤的選擇。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房間裡的大象 · BPM 進場時最常看到的五個被忽略事實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facts BPM most often finds sitting in the room, unspoken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105/12/31 分界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1691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被繼承人此日前取得的不動產，繼承後出售適用「舊制」（財產交易所得 + 土增稅），完全不進房地合一。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585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00200" y="2258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取得成本「凹陷」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6200" y="22585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繼承取得成本 = 評定 + 公告現值 × CPI，與市價的落差會讓課稅所得放大 2–5 倍，超過家族對「賺多少 = 課多少稅」的直覺。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8229600" cy="502920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254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28254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共同抵押的「部分塗銷」陷阱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86200" y="28254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民法 §875 / §881-12 規定下，多筆不動產設定同一抵押權，處分其中一筆會牽動整個擔保池，銀行未必主動講。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9242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00200" y="33924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自住優惠是「分配」工具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33924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10% / 400 萬扣除，6 年限用一次。誰用、用在哪一筆、什麼時點用，是家族層級的分配決策，不是個人決定。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593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00200" y="3959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配偶贈與配額未被計入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86200" y="39593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配偶間贈與免稅、加上每年 244 萬贈與免稅額（民國 113 年標準），是「移轉時序」的工具，不是節稅小技巧。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↘  Part 2 · BPM 如何把這五個事實，組合成一個可決策的框架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C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3832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· 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4173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不要一次決定整筆資產，要先讓兩個時鐘對齊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548640" cy="36576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6060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的雙時鐘框架，是一個把稅務時序、現金需求、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與既有顧問建議整合進同一張決策桌的工具。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2 拆解：核心圖、三個變數、90 天診斷、顧問協作模式。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雙時鐘核心圖 · 找到兩個時鐘的「對齊區間」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alignment band where tax-rate clock meets liquidity clock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時鐘 A · 稅率隨持有期間下降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023360" cy="210312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886200"/>
            <a:ext cx="3383280" cy="0"/>
          </a:xfrm>
          <a:prstGeom prst="line">
            <a:avLst/>
          </a:prstGeom>
          <a:noFill/>
          <a:ln w="9525">
            <a:solidFill>
              <a:srgbClr val="8A8F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06040"/>
            <a:ext cx="731520" cy="1280160"/>
          </a:xfrm>
          <a:prstGeom prst="rect">
            <a:avLst/>
          </a:prstGeom>
          <a:solidFill>
            <a:srgbClr val="B23A1B">
              <a:alpha val="85000"/>
            </a:srgbClr>
          </a:solidFill>
          <a:ln w="12700">
            <a:solidFill>
              <a:srgbClr val="B23A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904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54480" y="2880360"/>
            <a:ext cx="731520" cy="1005840"/>
          </a:xfrm>
          <a:prstGeom prst="rect">
            <a:avLst/>
          </a:prstGeom>
          <a:solidFill>
            <a:srgbClr val="C97A4A">
              <a:alpha val="85000"/>
            </a:srgbClr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606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904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3291840"/>
            <a:ext cx="731520" cy="594360"/>
          </a:xfrm>
          <a:prstGeom prst="rect">
            <a:avLst/>
          </a:prstGeom>
          <a:solidFill>
            <a:srgbClr val="8E8A4A">
              <a:alpha val="85000"/>
            </a:srgbClr>
          </a:solidFill>
          <a:ln w="12700">
            <a:solidFill>
              <a:srgbClr val="8E8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0175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3904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3429000"/>
            <a:ext cx="1005840" cy="457200"/>
          </a:xfrm>
          <a:prstGeom prst="rect">
            <a:avLst/>
          </a:prstGeom>
          <a:solidFill>
            <a:srgbClr val="3C6E47">
              <a:alpha val="85000"/>
            </a:srgbClr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3904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時鐘 B · 現金壓力隨時序累積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4023360" cy="210312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3794760"/>
            <a:ext cx="3383280" cy="0"/>
          </a:xfrm>
          <a:prstGeom prst="line">
            <a:avLst/>
          </a:prstGeom>
          <a:noFill/>
          <a:ln w="9525">
            <a:solidFill>
              <a:srgbClr val="8A8F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3721608"/>
            <a:ext cx="146304" cy="146304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T+6M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3931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3721608"/>
            <a:ext cx="146304" cy="146304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T+8M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3931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3721608"/>
            <a:ext cx="146304" cy="146304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T+18M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3931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3721608"/>
            <a:ext cx="146304" cy="146304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T+36M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3931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再投資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2423160"/>
            <a:ext cx="3383280" cy="320040"/>
          </a:xfrm>
          <a:prstGeom prst="rect">
            <a:avLst/>
          </a:prstGeom>
          <a:solidFill>
            <a:srgbClr val="B23A1B">
              <a:alpha val="30000"/>
            </a:srgbClr>
          </a:solidFill>
          <a:ln w="12700">
            <a:solidFill>
              <a:srgbClr val="B23A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8F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現金缺口強度（示意）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對齊區間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的工作是找到一個時段，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讓時鐘 A 的稅率落到較低格、同時不超出時鐘 B 能承受的現金時程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三個變數 · 一個決策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variables, one capital decision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06040" cy="73152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105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稅率時鐘位置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Tax-rate clock position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7432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被繼承人取得日 + 預計出售日，決定落入 45/35/20/15% 哪一格；105 前取得者不適用房地合一。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" y="3456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權狀 · 謄本 · 過去交易紀錄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2606040" cy="237744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9684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決定「稅率」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691640"/>
            <a:ext cx="2606040" cy="73152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8105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1071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取得成本「凹陷」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10712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Cost-basis sinkhole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27432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繼承取得成本 = 房屋評定 + 公告土地 × CPI；與市價落差會把課稅所得放大。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10712" y="3456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10712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繼承時評定/公告現值 · CPI 表 · 估價報告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3968496"/>
            <a:ext cx="2606040" cy="237744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9684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決定「課稅所得規模」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691640"/>
            <a:ext cx="2606040" cy="73152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18105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9963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橋接成本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99632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cost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9632" y="27432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用融資 / 部分處分把現金需求往後推到低稅率格子；融資利率 × 延後期間 = 橋接成本。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9632" y="3456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9632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 sheet · 利率曲線 · 收益模型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968496"/>
            <a:ext cx="2606040" cy="237744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39684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決定「橋接是否划算」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4348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公式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橋接收益 = (現賣稅 − 晚賣稅) − (橋接融資成本 + 持有期間淨成本)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天診斷 · 把雙時鐘從概念變成決策包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concept to a decision pack the family can act on in 90 days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資料底座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權狀 · 謄本 · 貸款條件 · 取得日證明 · 家族決策權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502920" cy="502920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雙時鐘繪製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稅務時鐘 · 現金需求時鐘 · 評定/公告/市價對齊 · 新舊制判定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502920" cy="502920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情境模型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924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 / 橋接 / 延後 / 舊制 · Term sheet 比價 · 敏感度分析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922776"/>
            <a:ext cx="502920" cy="502920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W9–12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3831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決策包與藍圖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1056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家族會議 decision pack · 行動分類 · 與顧問協作節奏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1691640"/>
            <a:ext cx="3108960" cy="3017520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與既有顧問的協作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2880360"/>
            <a:ext cx="731520" cy="731520"/>
          </a:xfrm>
          <a:prstGeom prst="ellipse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23317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62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會計師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0760" y="2651760"/>
            <a:ext cx="1051560" cy="594360"/>
          </a:xfrm>
          <a:prstGeom prst="line">
            <a:avLst/>
          </a:prstGeom>
          <a:noFill/>
          <a:ln w="15875">
            <a:solidFill>
              <a:srgbClr val="E5E0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772400" y="23317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62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律師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 flipH="1">
            <a:off x="7132320" y="2651760"/>
            <a:ext cx="960120" cy="594360"/>
          </a:xfrm>
          <a:prstGeom prst="line">
            <a:avLst/>
          </a:prstGeom>
          <a:noFill/>
          <a:ln w="15875">
            <a:solidFill>
              <a:srgbClr val="E5E0D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760720" y="37033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62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 flipV="1">
            <a:off x="6080760" y="3246120"/>
            <a:ext cx="1051560" cy="777240"/>
          </a:xfrm>
          <a:prstGeom prst="line">
            <a:avLst/>
          </a:prstGeom>
          <a:noFill/>
          <a:ln w="15875">
            <a:solidFill>
              <a:srgbClr val="E5E0D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772400" y="37033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62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地政士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/估價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 flipV="1">
            <a:off x="7132320" y="3246120"/>
            <a:ext cx="960120" cy="777240"/>
          </a:xfrm>
          <a:prstGeom prst="line">
            <a:avLst/>
          </a:prstGeom>
          <a:noFill/>
          <a:ln w="15875">
            <a:solidFill>
              <a:srgbClr val="E5E0D8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71500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不取代任何專業顧問，而是把各方 input 對齊到同一張決策桌。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C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3832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 · 陳家族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4173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三代、五人、四筆資產、9,800 萬遺產稅倒數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548640" cy="36576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6060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陳家族是 BPM 依台灣常見的多資產家族結構，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整合改編而成的示意性綜合案例。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3 將完整呈現：家族畫像、觸發事件、既有顧問建議、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進場後的五個關鍵發現、三情境比較與推薦組合、最終 outcome。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家族畫像與資產地圖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people, four properties, four acquisition vintages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家族成員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438912"/>
          </a:xfrm>
          <a:prstGeom prst="rect">
            <a:avLst/>
          </a:prstGeom>
          <a:solidFill>
            <a:srgbClr val="F2E8DE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陳老先生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被繼承人 · 已故 2025/03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03120" y="20482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 歲，紡織業創辦人；資產三代累積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023360" cy="438912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51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陳太太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743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配偶 · 健在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03120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78 歲，傾向保守、希望保留信義商辦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438912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陳明哲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246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長子 · 接班 紡織業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03120" y="3054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 歲，傾向處分非核心、保留商辦做企業擔保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023360" cy="438912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57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陳怡君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次女 · 海外資產顧問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03120" y="35570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 歲，主張賣台中廠房（家族沒運營）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4023360" cy="438912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陳明翰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三子 · 醫師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03120" y="40599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 歲，要求公平分產，暗示願意賣信義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資產地圖 · 取得年代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206240"/>
            <a:ext cx="3840480" cy="0"/>
          </a:xfrm>
          <a:prstGeom prst="line">
            <a:avLst/>
          </a:prstGeom>
          <a:noFill/>
          <a:ln w="9525">
            <a:solidFill>
              <a:srgbClr val="8A8F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4160520"/>
            <a:ext cx="0" cy="91440"/>
          </a:xfrm>
          <a:prstGeom prst="line">
            <a:avLst/>
          </a:prstGeom>
          <a:noFill/>
          <a:ln w="6350">
            <a:solidFill>
              <a:srgbClr val="8A8F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261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15000" y="4160520"/>
            <a:ext cx="0" cy="91440"/>
          </a:xfrm>
          <a:prstGeom prst="line">
            <a:avLst/>
          </a:prstGeom>
          <a:noFill/>
          <a:ln w="6350">
            <a:solidFill>
              <a:srgbClr val="8A8F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4261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4160520"/>
            <a:ext cx="0" cy="91440"/>
          </a:xfrm>
          <a:prstGeom prst="line">
            <a:avLst/>
          </a:prstGeom>
          <a:noFill/>
          <a:ln w="6350">
            <a:solidFill>
              <a:srgbClr val="8A8F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261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35240" y="4160520"/>
            <a:ext cx="0" cy="91440"/>
          </a:xfrm>
          <a:prstGeom prst="line">
            <a:avLst/>
          </a:prstGeom>
          <a:noFill/>
          <a:ln w="6350">
            <a:solidFill>
              <a:srgbClr val="8A8F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4261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95360" y="4160520"/>
            <a:ext cx="0" cy="91440"/>
          </a:xfrm>
          <a:prstGeom prst="line">
            <a:avLst/>
          </a:prstGeom>
          <a:noFill/>
          <a:ln w="6350">
            <a:solidFill>
              <a:srgbClr val="8A8F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4261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81728" y="4133088"/>
            <a:ext cx="146304" cy="146304"/>
          </a:xfrm>
          <a:prstGeom prst="ellipse">
            <a:avLst/>
          </a:prstGeom>
          <a:solidFill>
            <a:srgbClr val="3C6E47"/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560320"/>
            <a:ext cx="0" cy="1572768"/>
          </a:xfrm>
          <a:prstGeom prst="line">
            <a:avLst/>
          </a:prstGeom>
          <a:noFill/>
          <a:ln w="9525">
            <a:solidFill>
              <a:srgbClr val="3C6E47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663440" y="2103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121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淡水透天 自住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2331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0.6億 · 舊制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08305" y="4133088"/>
            <a:ext cx="146304" cy="146304"/>
          </a:xfrm>
          <a:prstGeom prst="ellipse">
            <a:avLst/>
          </a:prstGeom>
          <a:solidFill>
            <a:srgbClr val="3C6E47"/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1457" y="3291840"/>
            <a:ext cx="0" cy="841248"/>
          </a:xfrm>
          <a:prstGeom prst="line">
            <a:avLst/>
          </a:prstGeom>
          <a:noFill/>
          <a:ln w="9525">
            <a:solidFill>
              <a:srgbClr val="3C6E47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795657" y="283464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1377" y="2852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信義商辦 出租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41377" y="3063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4.2億 · 舊制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95631" y="4133088"/>
            <a:ext cx="146304" cy="146304"/>
          </a:xfrm>
          <a:prstGeom prst="ellipse">
            <a:avLst/>
          </a:prstGeom>
          <a:solidFill>
            <a:srgbClr val="8E8A4A"/>
          </a:solidFill>
          <a:ln w="12700">
            <a:solidFill>
              <a:srgbClr val="8E8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68783" y="2560320"/>
            <a:ext cx="0" cy="1572768"/>
          </a:xfrm>
          <a:prstGeom prst="line">
            <a:avLst/>
          </a:prstGeom>
          <a:noFill/>
          <a:ln w="9525">
            <a:solidFill>
              <a:srgbClr val="8E8A4A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7182983" y="2103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8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8703" y="2121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台中廠房 出租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28703" y="2331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1.8億 · 新制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003224" y="4133088"/>
            <a:ext cx="146304" cy="146304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76376" y="3291840"/>
            <a:ext cx="0" cy="841248"/>
          </a:xfrm>
          <a:prstGeom prst="line">
            <a:avLst/>
          </a:prstGeom>
          <a:noFill/>
          <a:ln w="9525">
            <a:solidFill>
              <a:srgbClr val="C97A4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315200" y="283464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60920" y="2852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高雄住宅 5戶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60920" y="3063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1.5億 · 新制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54880" y="4617720"/>
            <a:ext cx="109728" cy="109728"/>
          </a:xfrm>
          <a:prstGeom prst="ellipse">
            <a:avLst/>
          </a:prstGeom>
          <a:solidFill>
            <a:srgbClr val="3C6E47"/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572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舊制 (105前) · 不進房地合一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49440" y="4617720"/>
            <a:ext cx="109728" cy="109728"/>
          </a:xfrm>
          <a:prstGeom prst="ellipse">
            <a:avLst/>
          </a:prstGeom>
          <a:solidFill>
            <a:srgbClr val="8E8A4A"/>
          </a:solidFill>
          <a:ln w="12700">
            <a:solidFill>
              <a:srgbClr val="8E8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0" y="4572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新制 (106後) · 房地合一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進場時的觸發事件與三位顧問建議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BPM walked in: 4 months in, 4 months left, three conflicting recommendations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556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倒數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1874520"/>
            <a:ext cx="7040880" cy="228600"/>
          </a:xfrm>
          <a:prstGeom prst="rect">
            <a:avLst/>
          </a:prstGeom>
          <a:solidFill>
            <a:srgbClr val="3A4A66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3520440" cy="22860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已過 4 個月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 4 個月 → 遺產稅繳清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10312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過世 2025/03  ·  遺產稅約 NT$9,800 萬  ·  家族流動資產約 NT$3 億但跨多帳戶 / 公司持股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14600"/>
            <a:ext cx="2606040" cy="347472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會計師建議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Long-time family CPA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賣高雄住宅 5 戶中 2 戶 + 流動資產，把遺產稅繳清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639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課稅所得清楚、最快入帳；避免延期罰息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995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2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沒比較信義商辦（舊制）vs 高雄（新制）的稅率差距；未評估融資橋接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51460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514600"/>
            <a:ext cx="2606040" cy="347472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銀行建議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26974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私人銀行 RM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328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信義商辦做擔保再融資 NT$1.2 億，繳遺產稅 + 留現金做企業營運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34747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83280" y="3639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保留資產、放大可運用現金；商辦估值高、利率優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995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2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未評估擔保結構對未來危老/處分的限制；未考慮分產時點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251460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514600"/>
            <a:ext cx="2606040" cy="347472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律師建議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6974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事務所合夥律師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7220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信義商辦設立信託 + 三子女均分受益權；用流動資產繳遺產稅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34747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72200" y="3639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公平分產、防止後續糾紛；信託有財產隔離效果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3995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2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7220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未評估信託對融資、再融資與都更/危老的限制；未做 portfolio 稅務對比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進場後的五個關鍵發現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two clocks revealed that no single advisor was looking 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8229600" cy="530352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868680" cy="53035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DISC.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信義商辦 1995 取得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94760" y="171907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完全適用舊制，繼承後出售不進房地合一。即便售出，實質稅負約為市價 12–15%，遠低於高雄住宅新制 20–35%。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868680" cy="53035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DISC.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2860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淡水透天 1988 取得 + 自住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31343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可申請自住優惠（10% + 400 萬扣除），加上舊制適用，是稅後現金損失最小的處分選項。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530352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80360"/>
            <a:ext cx="868680" cy="53035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803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DISC.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880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高雄住宅 5 戶 2020 取得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290779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市價漲幅 7% 即可，課稅所得遠小於信義；且為近期取得，繼承後取得成本與被繼承人取得成本接近，課稅所得放大效應最小。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74720"/>
            <a:ext cx="868680" cy="53035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7472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DISC.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34747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台中廠房 2018 取得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350215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現有貸款已部分清償，可擴大設定取得低成本融資（1.8–2.1%），是橋接資金的最佳擔保品。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530352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69080"/>
            <a:ext cx="868680" cy="53035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6908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DISC.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配偶 + 流動資產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409651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陳太太剩餘配偶剩餘財產差額請求權與配偶贈與免稅額，可作為「移轉時序」工具，重新分配未來資產時序，不需要立即處分核心不動產。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962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↘  把這 5 個發現組合起來 → 三個情境並列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三情境並列 · 家族原案 vs 銀行案 vs BPM 推薦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exit paths compared on tax, cash, complexity, and downstream optionality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691640"/>
            <a:ext cx="2057400" cy="384048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家族原案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2057400" cy="384048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銀行融資案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691640"/>
            <a:ext cx="2057400" cy="384048"/>
          </a:xfrm>
          <a:prstGeom prst="rect">
            <a:avLst/>
          </a:prstGeom>
          <a:solidFill>
            <a:srgbClr val="1B2940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推薦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核心動作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2103120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103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賣高雄 2 戶 + 流動資產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03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信義商辦融資 NT$1.2 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2103120"/>
            <a:ext cx="2057400" cy="365760"/>
          </a:xfrm>
          <a:prstGeom prst="rect">
            <a:avLst/>
          </a:prstGeom>
          <a:solidFill>
            <a:srgbClr val="FAF1EA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103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保留信義 + 賣高雄 2 戶 + 台中設定融資 + 配偶贈與配額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487168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87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稅後現金 (估)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2487168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4871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+NT$ 0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487168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871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+NT$ 1.2 億 (但有利息)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66560" y="2487168"/>
            <a:ext cx="2057400" cy="365760"/>
          </a:xfrm>
          <a:prstGeom prst="rect">
            <a:avLst/>
          </a:prstGeom>
          <a:solidFill>
            <a:srgbClr val="FAF1EA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4871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+NT$ 4,300 萬 vs 家族原案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2871216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871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遺產稅繳清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2871216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28712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4 個月內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871216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8712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4 個月內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66560" y="2871216"/>
            <a:ext cx="2057400" cy="365760"/>
          </a:xfrm>
          <a:prstGeom prst="rect">
            <a:avLst/>
          </a:prstGeom>
          <a:solidFill>
            <a:srgbClr val="FAF1EA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28712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4 個月內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255264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255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執行複雜度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0" y="3255264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32552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255264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2552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中（融資 + covenant 約束）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66560" y="3255264"/>
            <a:ext cx="2057400" cy="365760"/>
          </a:xfrm>
          <a:prstGeom prst="rect">
            <a:avLst/>
          </a:prstGeom>
          <a:solidFill>
            <a:srgbClr val="FAF1EA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2552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中高（多方協調）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3639312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639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家族衝突風險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0" y="3639312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0" y="36393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中（三人對立持續）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639312"/>
            <a:ext cx="2057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6393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高（三子認為被綁住）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766560" y="3639312"/>
            <a:ext cx="2057400" cy="365760"/>
          </a:xfrm>
          <a:prstGeom prst="rect">
            <a:avLst/>
          </a:prstGeom>
          <a:solidFill>
            <a:srgbClr val="FAF1EA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36393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低（三層分產結構）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4023360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023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後續延伸機會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60320" y="4023360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0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弱（核心資產被切）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4023360"/>
            <a:ext cx="2057400" cy="365760"/>
          </a:xfrm>
          <a:prstGeom prst="rect">
            <a:avLst/>
          </a:prstGeom>
          <a:solidFill>
            <a:srgbClr val="F4F1EC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中（融資佔用商辦額度）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766560" y="4023360"/>
            <a:ext cx="2057400" cy="365760"/>
          </a:xfrm>
          <a:prstGeom prst="rect">
            <a:avLst/>
          </a:prstGeom>
          <a:solidFill>
            <a:srgbClr val="FAF1EA"/>
          </a:solidFill>
          <a:ln w="5080">
            <a:solidFill>
              <a:srgbClr val="E5E0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0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強（信義保留待都更）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4526280"/>
            <a:ext cx="8229600" cy="329184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5262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推薦不是「最大化短期現金」，而是「在稅後現金、家族治理、後續延伸三條軸上同時為正」。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BPM 推薦組合與 Outcome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integrated recommendation and what happened in the 24 months that followed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推薦組合 · 四個並行動作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保留信義商辦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2267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暫不處分；同步啟動危老 / 都更可行性評估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處分高雄住宅 5 戶中 2 戶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28620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課稅所得最小、買方詢價高；釋出 NT$5,500 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台中廠房擴大設定融資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34564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年期 1.95% · NT$8,000 萬 · 補遺產稅缺口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配偶贈與配額分散資產時序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40507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降低未來分產衝突；保留分產彈性 18–24 個月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個月後 Outcome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3840480" cy="411480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011680"/>
            <a:ext cx="54864" cy="411480"/>
          </a:xfrm>
          <a:prstGeom prst="rect">
            <a:avLst/>
          </a:prstGeom>
          <a:solidFill>
            <a:srgbClr val="3C6E47"/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+NT$ 4,300 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2011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稅後現金（vs 家族原案）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487168"/>
            <a:ext cx="3840480" cy="411480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487168"/>
            <a:ext cx="54864" cy="411480"/>
          </a:xfrm>
          <a:prstGeom prst="rect">
            <a:avLst/>
          </a:prstGeom>
          <a:solidFill>
            <a:srgbClr val="3C6E47"/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0" y="24871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遺產稅延期 / 罰息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962656"/>
            <a:ext cx="3840480" cy="411480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962656"/>
            <a:ext cx="54864" cy="411480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9626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83680" y="296265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信義商辦預估完工後價值（危老啟動）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438144"/>
            <a:ext cx="3840480" cy="411480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438144"/>
            <a:ext cx="54864" cy="411480"/>
          </a:xfrm>
          <a:prstGeom prst="rect">
            <a:avLst/>
          </a:prstGeom>
          <a:solidFill>
            <a:srgbClr val="3C6E47"/>
          </a:solidFill>
          <a:ln w="12700">
            <a:solidFill>
              <a:srgbClr val="3C6E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4381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−280 萬/年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3680" y="34381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後續降息窗口再融資年省利息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913632"/>
            <a:ext cx="3840480" cy="411480"/>
          </a:xfrm>
          <a:prstGeom prst="rect">
            <a:avLst/>
          </a:prstGeom>
          <a:solidFill>
            <a:srgbClr val="F4F1EC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913632"/>
            <a:ext cx="54864" cy="41148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9136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層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83680" y="39136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兄弟姊妹分產結構（現金 + 受益權 + 持分）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陳家族案例的四個轉移性 takeaway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multi-asset Taiwanese family can take from this case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73152" cy="73152"/>
          </a:xfrm>
          <a:prstGeom prst="ellipse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023360" cy="1298448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" cy="1298448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647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最容易賣的，通常不是該賣的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繼承時刻的決策常落在「哪個資產最好脫手」，但這往往是稅後現金最差的路徑。資產的取得年代決定了一切。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23360" cy="1298448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73152" cy="1298448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647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取得年代是隱藏的決勝變數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377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105/12/31 分界、自住優惠期間、配偶贈與時序——這些被忽略的時間點，往往是稅後現金最大的槓桿。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023360" cy="1298448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08960"/>
            <a:ext cx="73152" cy="1298448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82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顧問需要一個「對齊者」，不是更多顧問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會計師、銀行、律師都不會少；缺的是把他們三人放在同一張桌上、看同一個 portfolio view 的角色。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4023360" cy="1298448"/>
          </a:xfrm>
          <a:prstGeom prst="rect">
            <a:avLst/>
          </a:prstGeom>
          <a:solidFill>
            <a:srgbClr val="F4F1EC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3108960"/>
            <a:ext cx="73152" cy="1298448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182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6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00600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9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公平不等於平均；分產不等於分資產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0060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受益權、現金補償、信託與融資的組合，可以同時滿足公平、稅後現金、家族治理三個目標。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498848"/>
            <a:ext cx="8229600" cy="310896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9884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如果你家族手上有三筆以上不動產、且其中之一取得超過 25 年，我們有理由要請 BPM 看一眼。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508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 · 繼承後出售雙時鐘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48508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CONFIDENTIAL — 本案例為示意性綜合改編，非真實個案揭露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Intelligence · Asset Solutions · Capital Solutions · Governance Solutions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622F"/>
          </a:solidFill>
          <a:ln w="12700">
            <a:solidFill>
              <a:srgbClr val="C962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關於本案例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陳家族為 BPM 依台灣常見多資產家族結構整合改編之示意性案例，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非真實個案揭露。具體數字、家族成員與資產組合，均為案例需要所構成之教育素材。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本案例為 BPM 對客戶情境之分析框架說明，非法律或稅務意見。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具體法律與稅務效果，仍應由專業顧問依個案事實確認；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稅法與相關函釋以主管機關公布資料為準。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8229600" cy="914400"/>
          </a:xfrm>
          <a:prstGeom prst="rect">
            <a:avLst/>
          </a:prstGeom>
          <a:solidFill>
            <a:srgbClr val="0F1A2A"/>
          </a:solidFill>
          <a:ln w="6350">
            <a:solidFill>
              <a:srgbClr val="2B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與我們討論你的個案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9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 your case with 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contact@bpm.example  ·  www.bpm.example  ·  +886 -- -- ----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Case Study Library ·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48508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CONFIDENTIAL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 Case Study 01 · 繼承後出售雙時鐘 · 陳家族</dc:title>
  <dc:subject>PptxGenJS Presentation</dc:subject>
  <dc:creator>BPM</dc:creator>
  <cp:lastModifiedBy>BPM</cp:lastModifiedBy>
  <cp:revision>1</cp:revision>
  <dcterms:created xsi:type="dcterms:W3CDTF">2026-05-24T02:37:52Z</dcterms:created>
  <dcterms:modified xsi:type="dcterms:W3CDTF">2026-05-24T02:37:52Z</dcterms:modified>
</cp:coreProperties>
</file>